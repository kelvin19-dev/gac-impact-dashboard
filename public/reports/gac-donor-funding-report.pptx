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2dcdf34f734ab6" /><Relationship Type="http://schemas.openxmlformats.org/officeDocument/2006/relationships/extended-properties" Target="/docProps/app.xml" Id="R302e8b398dc94669" /><Relationship Type="http://schemas.openxmlformats.org/officeDocument/2006/relationships/officeDocument" Target="/ppt/presentation.xml" Id="R5a6f11ec905844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e14634acd641a5"/>
  </p:sldMasterIdLst>
  <p:notesMasterIdLst>
    <p:notesMasterId xmlns:r="http://schemas.openxmlformats.org/officeDocument/2006/relationships" r:id="Rc0c29b23160b490f"/>
  </p:notesMasterIdLst>
  <p:sldIdLst>
    <p:sldId xmlns:r="http://schemas.openxmlformats.org/officeDocument/2006/relationships" id="256" r:id="R22f7c0866af945ad"/>
    <p:sldId xmlns:r="http://schemas.openxmlformats.org/officeDocument/2006/relationships" id="257" r:id="Rd6ee4535f3694c46"/>
    <p:sldId xmlns:r="http://schemas.openxmlformats.org/officeDocument/2006/relationships" id="258" r:id="R51912945d9f2444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8c9a5eb6a14bc0" /><Relationship Type="http://schemas.openxmlformats.org/officeDocument/2006/relationships/slideMaster" Target="/ppt/slideMasters/slideMaster1.xml" Id="R62e14634acd641a5" /><Relationship Type="http://schemas.openxmlformats.org/officeDocument/2006/relationships/notesMaster" Target="/ppt/notesMasters/notesMaster1.xml" Id="Rc0c29b23160b490f" /><Relationship Type="http://schemas.openxmlformats.org/officeDocument/2006/relationships/presProps" Target="/ppt/presProps.xml" Id="R45eb6c349bf94b33" /><Relationship Type="http://schemas.openxmlformats.org/officeDocument/2006/relationships/viewProps" Target="/ppt/viewProps.xml" Id="R0ebaaa6f79294068" /><Relationship Type="http://schemas.openxmlformats.org/officeDocument/2006/relationships/tableStyles" Target="/ppt/tableStyles.xml" Id="R0d5b71aa204949dd" /><Relationship Type="http://schemas.openxmlformats.org/officeDocument/2006/relationships/slide" Target="/ppt/slides/slide1.xml" Id="R22f7c0866af945ad" /><Relationship Type="http://schemas.openxmlformats.org/officeDocument/2006/relationships/slide" Target="/ppt/slides/slide2.xml" Id="Rd6ee4535f3694c46" /><Relationship Type="http://schemas.openxmlformats.org/officeDocument/2006/relationships/slide" Target="/ppt/slides/slide3.xml" Id="R51912945d9f244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40c6ee63e94c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beeff2c9164e20" /><Relationship Type="http://schemas.openxmlformats.org/officeDocument/2006/relationships/notesMaster" Target="/ppt/notesMasters/notesMaster1.xml" Id="Rb909232062fc47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4fa5ee0396463d" /><Relationship Type="http://schemas.openxmlformats.org/officeDocument/2006/relationships/notesMaster" Target="/ppt/notesMasters/notesMaster1.xml" Id="R671945cf8dbb4b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a171c024a64e32" /><Relationship Type="http://schemas.openxmlformats.org/officeDocument/2006/relationships/notesMaster" Target="/ppt/notesMasters/notesMaster1.xml" Id="R176f27e655d04d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fe06f10fae46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9150947cdb4636" /><Relationship Type="http://schemas.openxmlformats.org/officeDocument/2006/relationships/slideLayout" Target="/ppt/slideLayouts/slideLayout1.xml" Id="R5a4d0a1d8c3943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4d0a1d8c3943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6d2c317614666" /><Relationship Type="http://schemas.openxmlformats.org/officeDocument/2006/relationships/image" Target="/ppt/media/image.png" Id="Rc168aba7b6554259" /><Relationship Type="http://schemas.openxmlformats.org/officeDocument/2006/relationships/notesSlide" Target="/ppt/notesSlides/notesSlide1.xml" Id="R99fb64bccd2d47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66f50d8f6400b" /><Relationship Type="http://schemas.openxmlformats.org/officeDocument/2006/relationships/notesSlide" Target="/ppt/notesSlides/notesSlide2.xml" Id="R2849bf7a8fe845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fe0bdd4914c9d" /><Relationship Type="http://schemas.openxmlformats.org/officeDocument/2006/relationships/notesSlide" Target="/ppt/notesSlides/notesSlide3.xml" Id="R270a9e78cd964a9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C72644-FF5A-4073-A920-7B191EA4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8aba7b6554259"/>
          <a:srcRect xmlns:a="http://schemas.openxmlformats.org/drawingml/2006/main" l="23892" t="0" r="238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0"/>
            <a:ext cx="63627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C5AF2-87A3-4F7F-B1DB-B958DAFF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DAECDA1-CD7E-41C3-B6BC-9F9BEB6C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F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6B6399A-4C20-4646-9362-BA8FDA8C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DONOR UPDATE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08F8C-1B1A-4422-9F51-13006F8D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476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Donor Funding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EE42F-F7CC-451A-8B1F-31378C9E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4362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EF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EFE9"/>
                </a:solidFill>
                <a:latin typeface="Aptos"/>
                <a:ea typeface="Aptos"/>
                <a:cs typeface="Aptos"/>
              </a:rPr>
              <a:t>Funding is reaching priority regions, but</a:t>
            </a:r>
          </a:p>
          <a:p xmlns:a="http://schemas.openxmlformats.org/drawingml/2006/main">
            <a:pPr algn="l">
              <a:defRPr sz="1500" b="0">
                <a:solidFill>
                  <a:srgbClr val="E8EF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EFE9"/>
                </a:solidFill>
                <a:latin typeface="Aptos"/>
                <a:ea typeface="Aptos"/>
                <a:cs typeface="Aptos"/>
              </a:rPr>
              <a:t>the gap is concentrated in a few themes.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0EFA6-AB8D-461D-A5CC-319DC072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Funders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B7E1D-46B6-4DEE-ABDD-F61A7FA2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As of May 31,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20E16-C159-420C-9562-ECF7E70E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865FD-FB19-42AB-99DB-0EEA8314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KES 83.5M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2D51F-5092-4E77-A1FB-38917779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2445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Grants disbursed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3D135-91F2-4ED8-8EAA-BD9BB722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27685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16 recipients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12CCC-E170-4E8F-A045-3949025E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76250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8062A-5B15-4A4D-BF53-378CE940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5775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KES 34.6M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B0430-C1B1-4C31-AC9A-76030B05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2445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Loans disbursed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DBB70-3224-4AD9-A13D-44BB1625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7685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KES 24.4M repaid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345BC-E981-4408-A714-52C350D9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963BF-5202-48E3-9BE1-54AF256A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7690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KES 2.6M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D5D1E1-3E12-4C32-B770-2B3B9E01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4360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Average grant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526B29-1844-4342-BEF0-684CA868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9600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Approved amount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F836F7-A74B-45D1-981C-DA6AA64A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58165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629790-6A57-4619-9256-C94DBC41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7690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KES 77.2M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2061F1-0DDB-403A-8672-94550BFE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4360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Funding gap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EC1285-A873-4538-BE84-508A13B0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9600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Active project need</a:t>
            </a:r>
          </a:p>
        </p:txBody>
      </p:sp>
    </p:spTree>
    <p:extLst>
      <p:ext uri="{BB962C8B-B14F-4D97-AF65-F5344CB8AC3E}">
        <p14:creationId xmlns:p14="http://schemas.microsoft.com/office/powerpoint/2010/main" val="6175786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D83379-E983-45FD-B8AF-3FEE1F48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F288331-A6D1-4B82-87AD-C1DC53E7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C0771A0-C2AF-4004-BF0C-2C652636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DONOR UPDATE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3D253-C674-4591-B565-8025377C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Funding is reaching priority regions, but the gap is concentrated in a few themes.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F33A2-700D-4642-8E85-823508A1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43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Youth skills and livelihoods carries the largest funding gap:</a:t>
            </a:r>
          </a:p>
          <a:p xmlns:a="http://schemas.openxmlformats.org/drawingml/2006/main">
            <a:pPr algn="l">
              <a:defRPr sz="1088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KES 16.4M unfunded across 9 projects, despite reaching 34K</a:t>
            </a:r>
          </a:p>
          <a:p xmlns:a="http://schemas.openxmlformats.org/drawingml/2006/main">
            <a:pPr algn="l">
              <a:defRPr sz="1088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people.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673DA-1C4D-4C76-AB23-523F7AEA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Funding deployed by region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2B2A5-5DD5-4AFA-9E3B-8FC4BFFB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Rift Valley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EF115B-6CFC-48E1-B037-3E4D608D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992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03B88-B656-427B-8B00-5E252B8D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992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1B0A3-E222-4903-9878-0BE3B84B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527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KES 25.4M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22303-98E2-4100-9085-D2E932D9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7438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Coast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E74AB-BBBD-488C-A027-A470FA03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46488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CB470-6BAA-4028-BC69-50345C57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46488"/>
            <a:ext cx="3871621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9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CD5A0-8A9C-4A2E-BBA0-D10F857A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89338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KES 22.4M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4EA7C-9F82-4B02-84F2-92A6026B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40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Northern Kenya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A947C-9F4A-494C-B1E7-DFB0EA2F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8305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44DD8-1A3A-4BA4-980A-19410EED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83050"/>
            <a:ext cx="310248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7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FDBEA-9C10-48F5-97A6-4CEC3B89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2590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KES 17.9M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A6F19-7613-4005-A298-C24DC688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0563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Nairobi Metro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762CB9-07CE-43DB-8218-5D35EC90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19613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C4C7ED-DD31-40FC-8C24-0F05F765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19613"/>
            <a:ext cx="225556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F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BE2D81-F6B9-4C97-A3FD-6B43A4D7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62463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KES 13.1M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707AE1-BBD4-4D0F-869D-075094DE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712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Western Kenya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C9D5E3-AB88-4486-9034-4FE1E2A7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5617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43CBEB-F7E6-4098-B060-2CA67F99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56175"/>
            <a:ext cx="203087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91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58AA88-96DC-4018-AD2B-A754F679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9902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KES 11.8M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7053A2-9D63-4B44-8F2D-84D10904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3688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Lower Eastern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668754-DB23-49CD-837F-29DDBB8E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92738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2875F7-4150-4FC0-8C6B-0A4E1979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92738"/>
            <a:ext cx="171976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FED8AA-D727-45AA-87A5-7EE65C5F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335588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KES 9.9M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F20EA6-C096-4B84-9226-26A3795A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95450"/>
            <a:ext cx="29146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1B93E0-DD09-4CA0-960A-F4CAB6AF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621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Report snapshot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478234-47DE-42D6-8B08-DECE484A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46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KES 83.5M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668AF3-7733-4406-AB4D-0FEA6AFB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194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Grants disbursed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EE7608-CD9C-46EF-A6F7-47E13555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003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16 recipients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D0B2B1-0321-454D-9BEF-1742DB77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528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KES 34.6M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FB3E6F-C443-4563-8A3C-91A127CE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576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Loans disbursed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822279-9DE7-4AEF-A8BC-C58F4D1D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385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KES 24.4M repaid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DEA296-4F2B-4F4D-8389-184D3C66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910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KES 2.6M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FA5BE7-288D-4F58-ACEE-A6603D5C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Average grant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9C6FC3-D3FE-4533-9087-98172CFA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767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Approved amount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F117DA-398A-41EF-AD9A-1C7DC009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292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KES 77.2M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AF6789-E1E0-489D-9A4B-3FD1A8AD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3340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Funding gap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160D4F-7CF1-427F-BE2F-168805C2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149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Active project need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A41F98-B8DA-431B-9565-49FE56C0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8FB9A6-6895-4489-BD17-29DB00E6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GAC Impact Intelligence Dashboard - Mock report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A95384-1D2B-408B-9654-3504E6C5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023065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53FCDB-CDB5-4ED1-883C-15015085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0D5B5D0-9470-4075-A13F-89674D4C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E4C515A-8C2B-4F21-B68F-8FFEE997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5C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15C38"/>
                </a:solidFill>
                <a:latin typeface="Aptos"/>
                <a:ea typeface="Aptos"/>
                <a:cs typeface="Aptos"/>
              </a:rPr>
              <a:t>DONOR UPDATE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B79E8-165D-41AF-B9D9-33B15C18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334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The mock report turns dashboard data into follow-up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6D136-47AA-46D1-8D11-3FBD5091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4767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6368E-3B70-49BA-A613-6463B022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Recommended follow-ups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1CA2E-7BFA-4A2D-A0CD-16C53537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12AB8-4771-4D68-9725-C4A88594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FCC1C-11C4-4061-9497-04F10563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Frame donor asks around the two largest unfunded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project themes.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74293-AE4F-4AFD-9DD5-4AFBE3DA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9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9E199-0BC4-4269-915D-59B348C3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3F06B-6E16-48D5-991A-05F2620A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Pair disbursement progress with outcome evidence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in quarterly updates.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407A1-8D57-4135-89DA-0A55A5FB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7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E1758-8351-476E-BBA2-2D95247E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B5EC54-5E1D-4DCF-BD6D-3EDCB048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Use region-level funding charts to show where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new capital can move fastest.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0BE51-F4B6-47CE-983C-9FC0438A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09750"/>
            <a:ext cx="48577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1"/>
          </a:solidFill>
          <a:ln xmlns:a="http://schemas.openxmlformats.org/drawingml/2006/main" w="9525">
            <a:solidFill>
              <a:srgbClr val="D8CA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22A534-B996-4E70-AAA5-E142147C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43100"/>
            <a:ext cx="451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Evidence to watch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C4E35D-57AB-41EE-85BB-A2960A21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22BEF1-EC7F-4A33-8A30-F7BC6A1C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479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Rift Valley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DD1F4E-1CD3-4F60-AF1E-2974E919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479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KES 25.4M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9EFC1D-CF7D-439A-B552-A58B41E1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479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Regional deployment total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3DBFAB-09AE-48F3-BD75-E90769E2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00325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86C04-618D-482A-AF9E-B8F4BAA2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5747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Coast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9D9E95-DF00-48B3-9E61-009C787F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5747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KES 22.4M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54736-DC37-4301-BC15-A09215C8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5747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Regional deployment total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F8F042-6D56-4DE0-9320-5788A28A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0990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0F28B9-D746-4C94-936B-63E8A238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670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Northern Kenya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DB2E97-F6DA-4228-916F-7AA17F65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670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KES 17.9M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C66E04-076D-4228-9DBC-5A190DB3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Regional deployment total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68A8A6-F69C-4A6E-8FC2-3F54959A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19475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8EB803-AACA-40E2-9A19-BAA64729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7662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Nairobi Metro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696FDA-CF0C-4E26-A11F-2A253764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KES 13.1M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D81B5A-EACE-463C-A6E0-9B7AA227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7662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Regional deployment total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072BDF-E53E-4FA3-8E96-4435314A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2905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A87481-8FCE-455C-B99C-30B9C2B9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862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Western Kenya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484177-3BDF-4178-9F61-0C9819A8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KES 11.8M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53E763-F01D-40CF-B5F0-2CA018AF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Regional deployment total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57D00E-D7A0-4798-B242-7A0AD5FB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7C8576-EFA2-4B52-84D2-7FAA5D30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Mock deliverable: editable PPTX report generated from the dashboard's simulated data, not a CSV export.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EBFB09-A872-4A5D-8BA5-41DAC970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D484CF-DA00-45E3-917F-3BE04165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GAC Impact Intelligence Dashboard - Mock report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086064-08E5-44A9-A27B-FD940D9C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11036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2026-06-04T14:52:12.4510000Z</dcterms:created>
  <dcterms:modified xsi:type="dcterms:W3CDTF">2026-06-04T14:52:12.4510000Z</dcterms:modified>
</coreProperties>
</file>