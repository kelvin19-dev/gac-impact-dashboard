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654b64e12b41f2" /><Relationship Type="http://schemas.openxmlformats.org/officeDocument/2006/relationships/extended-properties" Target="/docProps/app.xml" Id="Rbf358d392d754fca" /><Relationship Type="http://schemas.openxmlformats.org/officeDocument/2006/relationships/officeDocument" Target="/ppt/presentation.xml" Id="R08f5481bbe3c4d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91e8438234495b"/>
  </p:sldMasterIdLst>
  <p:notesMasterIdLst>
    <p:notesMasterId xmlns:r="http://schemas.openxmlformats.org/officeDocument/2006/relationships" r:id="Rc9be8f6d4eec4862"/>
  </p:notesMasterIdLst>
  <p:sldIdLst>
    <p:sldId xmlns:r="http://schemas.openxmlformats.org/officeDocument/2006/relationships" id="256" r:id="Rf4883f2e3df44329"/>
    <p:sldId xmlns:r="http://schemas.openxmlformats.org/officeDocument/2006/relationships" id="257" r:id="Rcb8e1440926d4ad6"/>
    <p:sldId xmlns:r="http://schemas.openxmlformats.org/officeDocument/2006/relationships" id="258" r:id="Rfdb723759ccf44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06464a81d54638" /><Relationship Type="http://schemas.openxmlformats.org/officeDocument/2006/relationships/slideMaster" Target="/ppt/slideMasters/slideMaster1.xml" Id="R9291e8438234495b" /><Relationship Type="http://schemas.openxmlformats.org/officeDocument/2006/relationships/notesMaster" Target="/ppt/notesMasters/notesMaster1.xml" Id="Rc9be8f6d4eec4862" /><Relationship Type="http://schemas.openxmlformats.org/officeDocument/2006/relationships/presProps" Target="/ppt/presProps.xml" Id="Ra75cdc4f453443bd" /><Relationship Type="http://schemas.openxmlformats.org/officeDocument/2006/relationships/viewProps" Target="/ppt/viewProps.xml" Id="R22551f4a7ef84991" /><Relationship Type="http://schemas.openxmlformats.org/officeDocument/2006/relationships/tableStyles" Target="/ppt/tableStyles.xml" Id="R1ac44abc6f604f13" /><Relationship Type="http://schemas.openxmlformats.org/officeDocument/2006/relationships/slide" Target="/ppt/slides/slide1.xml" Id="Rf4883f2e3df44329" /><Relationship Type="http://schemas.openxmlformats.org/officeDocument/2006/relationships/slide" Target="/ppt/slides/slide2.xml" Id="Rcb8e1440926d4ad6" /><Relationship Type="http://schemas.openxmlformats.org/officeDocument/2006/relationships/slide" Target="/ppt/slides/slide3.xml" Id="Rfdb723759ccf44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1155f3a4d040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e6517ffdb645cb" /><Relationship Type="http://schemas.openxmlformats.org/officeDocument/2006/relationships/notesMaster" Target="/ppt/notesMasters/notesMaster1.xml" Id="R013f9397061a43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c65f31bdef48f4" /><Relationship Type="http://schemas.openxmlformats.org/officeDocument/2006/relationships/notesMaster" Target="/ppt/notesMasters/notesMaster1.xml" Id="Rcc1ba10f83b241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ae3fc6e4154a52" /><Relationship Type="http://schemas.openxmlformats.org/officeDocument/2006/relationships/notesMaster" Target="/ppt/notesMasters/notesMaster1.xml" Id="R8d1f111089b848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d2163cba542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b0618db0f54962" /><Relationship Type="http://schemas.openxmlformats.org/officeDocument/2006/relationships/slideLayout" Target="/ppt/slideLayouts/slideLayout1.xml" Id="Re44316f0a0414b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4316f0a0414b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8e2834a83451a" /><Relationship Type="http://schemas.openxmlformats.org/officeDocument/2006/relationships/image" Target="/ppt/media/image.png" Id="R63d7cb03dd92459b" /><Relationship Type="http://schemas.openxmlformats.org/officeDocument/2006/relationships/notesSlide" Target="/ppt/notesSlides/notesSlide1.xml" Id="R0d23466d617847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5363dc2c84336" /><Relationship Type="http://schemas.openxmlformats.org/officeDocument/2006/relationships/notesSlide" Target="/ppt/notesSlides/notesSlide2.xml" Id="Rb20024b08de046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0537a134d47f4" /><Relationship Type="http://schemas.openxmlformats.org/officeDocument/2006/relationships/notesSlide" Target="/ppt/notesSlides/notesSlide3.xml" Id="R60d947ffa7024f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9FD130-F3BF-48E9-AA6E-7E0D32E3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7cb03dd92459b"/>
          <a:srcRect xmlns:a="http://schemas.openxmlformats.org/drawingml/2006/main" l="23892" t="0" r="238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0"/>
            <a:ext cx="63627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CB70F-E42B-436C-B88C-F603D1F4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9F2404C-EB26-47FA-AC40-21D93C26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F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88C07E6-EB62-4738-8D7D-57BA426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BOARD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8DC4E-B1F0-47F5-AD99-3C9ED753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Executive Impact 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9EF72-A4B5-4403-8D8D-9F6646E5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362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EF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FE9"/>
                </a:solidFill>
                <a:latin typeface="Aptos"/>
                <a:ea typeface="Aptos"/>
                <a:cs typeface="Aptos"/>
              </a:rPr>
              <a:t>Reach is scaling, but leadership follow-up</a:t>
            </a:r>
          </a:p>
          <a:p xmlns:a="http://schemas.openxmlformats.org/drawingml/2006/main">
            <a:pPr algn="l">
              <a:defRPr sz="1500" b="0">
                <a:solidFill>
                  <a:srgbClr val="E8EF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FE9"/>
                </a:solidFill>
                <a:latin typeface="Aptos"/>
                <a:ea typeface="Aptos"/>
                <a:cs typeface="Aptos"/>
              </a:rPr>
              <a:t>should focus on risk and the unfunded gap.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E1CC4-B051-4424-BE34-F61EC830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Board and leadership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43B9D-CE45-485B-B65E-CC3A0E98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As of May 31,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4FC0B-7001-4E43-B27C-6792A3B7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745AB-EF1E-4736-AD67-5A10E52B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90299-7724-491D-9C0B-4831B8BE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2445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Active CBOs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28342-3E16-4B78-9E1A-9A400B3A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7685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186 total members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034A4-5503-4FB4-B17C-1D0293F5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76250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550DA-4772-41F7-A762-5514BB7D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186K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8E9C2-0056-4A76-B897-8BF7DD0C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2445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People reached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CE1DD-8147-47E9-B816-D817DA00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7685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41K households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C52E0-3B84-4D76-9124-6765B734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8D7AB-2BD2-4F69-8F6E-7B4FB266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7690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KES 118M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B01D2-2122-44FF-A342-77A033B5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4360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Funds deployed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66B1F-DD48-408E-9081-C5740B58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9600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Grants plus loans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C7ED54-A330-4B85-BEE6-FACF35C7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58165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A2EC7-6C79-41FD-B4BB-91A36BE3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7690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32B892-21F5-496F-9794-231FF5CD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4360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Projects at risk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A82DB-11B5-4CCB-B18D-46DB73C8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9600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KES 77.2M funding gap</a:t>
            </a:r>
          </a:p>
        </p:txBody>
      </p:sp>
    </p:spTree>
    <p:extLst>
      <p:ext uri="{BB962C8B-B14F-4D97-AF65-F5344CB8AC3E}">
        <p14:creationId xmlns:p14="http://schemas.microsoft.com/office/powerpoint/2010/main" val="17172590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C2804F-1B3F-4EE4-BF0E-213B6795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77AC6C0-7D84-47A0-8082-0689A8BD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8610B37-B6BB-42A2-8D8E-AFC52090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BOARD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5E132-7910-4BF4-94F6-1BC7279F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Reach is scaling, but leadership follow-up should focus on risk and the unfunded gap.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46438-C7B1-4FD5-9BBC-F386828D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4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Across the Kenya network, GAC engaged 86 active CBOs across 15</a:t>
            </a:r>
          </a:p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counties, reaching an estimated 186K people this last 12</a:t>
            </a:r>
          </a:p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months. KES 118M was deployed through grants and loans, with</a:t>
            </a:r>
          </a:p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repayment holding at 70.5%. Youth skills and livelihoods leads</a:t>
            </a:r>
          </a:p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the active portfolio, while KES 77.2M in community needs</a:t>
            </a:r>
          </a:p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remains unfunded and 7 projects need follow-up.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F3F8A-3166-4EF6-9408-588C6AC8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Active project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CE04F-EABE-414D-B08F-398EEE73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Youth skills and livelihoods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3281C-24F6-4A4E-812E-53DB5079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05E4E-7FCB-42DB-88E3-401AF201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DB343-1C4D-4A14-A75E-DCAC16CB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527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9 projects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0317C-7A51-40D7-BD98-A80F3E7E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Women economic empowerment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E235D-AD18-4A8F-8083-7D39C46B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2427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CBD95-0150-4BC9-9E35-F50AF5FE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24275"/>
            <a:ext cx="389466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9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46AAA-1788-479A-822A-68A12263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671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8 projects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D9A12-1D23-4598-81BB-BAB019FA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Climate resilience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2F287-52E4-4716-926D-6D2611ED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3862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A45E5-4242-4E15-A51B-A8CB3624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38625"/>
            <a:ext cx="340783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7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49B35-709B-4C81-8C30-5F59EDD2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814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7 projects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8BEC4-D390-4DE2-B223-7D13E4AE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Food security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DB210-D2EE-4444-B62C-7A7A6104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5297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BC550-E7AE-4F1A-B0F3-17F30657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52975"/>
            <a:ext cx="292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F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7AAD1E-8CCD-481F-9358-801A749B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958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6 projects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2B7FE1-160B-4648-AEA2-5F60AAFA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Water and sanitation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BDB2BB-410B-4A95-B58B-16BFC002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6732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1BA8C-D269-40A3-B654-50897962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67325"/>
            <a:ext cx="243416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7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7D783E-4E0F-4A2B-9420-0EAE5759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101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5 projects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2F0598-69CB-4FFF-B2C1-E5FEDE44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95450"/>
            <a:ext cx="29146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A27AEE-9A92-4DC1-83E6-E5BC3B83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621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Report snapshot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70EFD3-BA5E-4AE7-894C-9B08AAFF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86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12B941-D5BE-4F1C-A20A-A89B92AA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194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Active CBOs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C44A7A-FD12-4326-BB0D-ACFA997D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03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186 total members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257E44-4D6F-43F9-92E0-1648AA9A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186K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38BD0B-9D60-4832-B254-3F5BF822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576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People reached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E1FB01-DE44-4913-B6FB-B95721B0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385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41K households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CC90A8-EFC8-44EE-B119-EAEE7BFC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910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KES 118M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430610-46FA-40B4-8825-7DF191C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Funds deployed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6885D8-1A52-4B65-AAE8-4EEAB341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767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Grants plus loans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4EEFCA-6759-42BC-9D11-F1EDF034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292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43C4FA-FA88-4C1E-9336-8873B725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340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Projects at risk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F08364-DD68-428A-BD2D-2A006083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149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KES 77.2M funding gap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54BB5A-5013-435E-A81E-9E0B0CD3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22B493-10A0-432F-909D-39A2A4DE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GAC Impact Intelligence Dashboard - Mock report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32E5C3-6120-41BF-9B4F-BECE7756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52950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E7B017-4E21-4335-9F7B-117C8B77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BCAD033-F8F8-4EEB-98D4-6C2FE78C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A47B96D-4F8C-4B31-A8B0-3A9BA306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5C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15C38"/>
                </a:solidFill>
                <a:latin typeface="Aptos"/>
                <a:ea typeface="Aptos"/>
                <a:cs typeface="Aptos"/>
              </a:rPr>
              <a:t>BOARD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6D6E8-17B7-456F-B301-05D8999B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33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The mock report turns dashboard data into follow-up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8F090-77DE-404C-BC98-E68FA044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476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F7C4F-5144-4D17-800A-E41D1FCE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Recommended follow-ups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06F00-F1FA-41FB-88D6-4A2B0137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DD903-038C-4EE2-9B11-7D0B6788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42DDC-D196-4776-AFE5-61F16B44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Prioritize follow-up on high-risk projects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before the next board packet.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10DC8-464F-49D2-92BF-21B8A021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9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4CD11-3619-4CE6-8DE2-15E67725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3C604-4D80-4E6F-BEB5-9CCC84C5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Use the funding gap bridge to direct donor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conversations by theme.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F3DE7-1804-4F76-85F8-7020E3F1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7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82CFC-311E-46C8-9976-9707B4DD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E4CA5-2461-4362-97E3-41FEA607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Keep repayment follow-up active while loan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performance remains stable.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4E90A-7C49-480A-8921-E56222D0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4857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1"/>
          </a:solidFill>
          <a:ln xmlns:a="http://schemas.openxmlformats.org/drawingml/2006/main" w="9525">
            <a:solidFill>
              <a:srgbClr val="D8CA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84DC0-18B9-4BC8-B0FD-51D1A495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43100"/>
            <a:ext cx="451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Evidence to watch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9CDAD-3C15-4E41-BC14-27A2FB1C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2243DC-4A18-459D-8A41-3FCDB26D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479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7 projects require</a:t>
            </a:r>
          </a:p>
          <a:p xmlns:a="http://schemas.openxmlformats.org/drawingml/2006/main">
            <a:pPr algn="l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follow-up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BB8E5-F980-44F1-B2DA-FEE62C20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3FBFD4-4282-4866-A152-4DE22C95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Water and sanitation in Garissa County has</a:t>
            </a:r>
          </a:p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the highest current risk flag.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F49913-A184-4790-B68A-69F0D7E8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0032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DBBEA3-AAF7-425A-8A59-FB7EE1EE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5747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15 member reports</a:t>
            </a:r>
          </a:p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overdue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9EE50B-8B5D-49DA-9A9B-72BF46FD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574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47AD08-2A48-4169-950B-7B50B2B3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5747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Mostly from Nyanza, with reach figures and</a:t>
            </a:r>
          </a:p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activity logs still pending.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F81410-3D32-492A-81E8-021209A6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099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03E9BE-5EF4-40D6-87C5-B0533EB6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670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 loan accounts overdue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153FB6-D02D-4C14-852C-2E458713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670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29BAC5-832C-44C1-B2C3-EF0A0140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No overdue loan balances in the selected</a:t>
            </a:r>
          </a:p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view.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89412F-F30C-49E3-9DA6-E25F788B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1947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656576-85DE-44FC-A527-95FA1172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7662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KES 77.2M estimated</a:t>
            </a:r>
          </a:p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funding gap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CB60B3-2DDA-4EE4-95A1-E8352E21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9BCB61-5470-4FF7-A5B3-40FD318C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7662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Youth skills and livelihoods carries the</a:t>
            </a:r>
          </a:p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largest unfunded need at KES 16.4M.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A213B4-6F4E-44FC-BCDA-DEB8C1F9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7557E4-A5E2-4799-89C6-6BF64A6C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Mock deliverable: editable PPTX report generated from the dashboard's simulated data, not a CSV export.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0D9ECF-D3CB-4362-95C8-E655C8D5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2AF5AC-6762-412F-8F61-A333053E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GAC Impact Intelligence Dashboard - Mock report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5FD37C-9566-4170-953B-503CC1EE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90765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2026-06-04T14:52:01.7260000Z</dcterms:created>
  <dcterms:modified xsi:type="dcterms:W3CDTF">2026-06-04T14:52:01.7260000Z</dcterms:modified>
</coreProperties>
</file>