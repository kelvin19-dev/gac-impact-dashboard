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5ea89c436b145f5" /><Relationship Type="http://schemas.openxmlformats.org/officeDocument/2006/relationships/extended-properties" Target="/docProps/app.xml" Id="R2cee322c6e18413e" /><Relationship Type="http://schemas.openxmlformats.org/officeDocument/2006/relationships/officeDocument" Target="/ppt/presentation.xml" Id="R95e00b0de7c44fdf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74172e3a79949c8"/>
  </p:sldMasterIdLst>
  <p:notesMasterIdLst>
    <p:notesMasterId xmlns:r="http://schemas.openxmlformats.org/officeDocument/2006/relationships" r:id="R230ca774bbd04288"/>
  </p:notesMasterIdLst>
  <p:sldIdLst>
    <p:sldId xmlns:r="http://schemas.openxmlformats.org/officeDocument/2006/relationships" id="256" r:id="Rb5e88840ed1841b1"/>
    <p:sldId xmlns:r="http://schemas.openxmlformats.org/officeDocument/2006/relationships" id="257" r:id="Rc56df7ec8fc34cd5"/>
    <p:sldId xmlns:r="http://schemas.openxmlformats.org/officeDocument/2006/relationships" id="258" r:id="R50f73f44be984253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a52eefd939e445d1" /><Relationship Type="http://schemas.openxmlformats.org/officeDocument/2006/relationships/slideMaster" Target="/ppt/slideMasters/slideMaster1.xml" Id="Ra74172e3a79949c8" /><Relationship Type="http://schemas.openxmlformats.org/officeDocument/2006/relationships/notesMaster" Target="/ppt/notesMasters/notesMaster1.xml" Id="R230ca774bbd04288" /><Relationship Type="http://schemas.openxmlformats.org/officeDocument/2006/relationships/presProps" Target="/ppt/presProps.xml" Id="Rb75634d2420f466a" /><Relationship Type="http://schemas.openxmlformats.org/officeDocument/2006/relationships/viewProps" Target="/ppt/viewProps.xml" Id="R1aed5458dc6243c4" /><Relationship Type="http://schemas.openxmlformats.org/officeDocument/2006/relationships/tableStyles" Target="/ppt/tableStyles.xml" Id="R95e88aa4bad64cc6" /><Relationship Type="http://schemas.openxmlformats.org/officeDocument/2006/relationships/slide" Target="/ppt/slides/slide1.xml" Id="Rb5e88840ed1841b1" /><Relationship Type="http://schemas.openxmlformats.org/officeDocument/2006/relationships/slide" Target="/ppt/slides/slide2.xml" Id="Rc56df7ec8fc34cd5" /><Relationship Type="http://schemas.openxmlformats.org/officeDocument/2006/relationships/slide" Target="/ppt/slides/slide3.xml" Id="R50f73f44be98425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be3148051e548d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6c11282838947a3" /><Relationship Type="http://schemas.openxmlformats.org/officeDocument/2006/relationships/notesMaster" Target="/ppt/notesMasters/notesMaster1.xml" Id="R8249c57e163c418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3cb3dd88a014321" /><Relationship Type="http://schemas.openxmlformats.org/officeDocument/2006/relationships/notesMaster" Target="/ppt/notesMasters/notesMaster1.xml" Id="R7b52ce90e56341a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80d2c370859448d" /><Relationship Type="http://schemas.openxmlformats.org/officeDocument/2006/relationships/notesMaster" Target="/ppt/notesMasters/notesMaster1.xml" Id="R4626015cf905449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469c6514f95493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92f1ff27dc34d07" /><Relationship Type="http://schemas.openxmlformats.org/officeDocument/2006/relationships/slideLayout" Target="/ppt/slideLayouts/slideLayout1.xml" Id="Rf3a3292e8c384738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3a3292e8c384738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92f41331f74adf" /><Relationship Type="http://schemas.openxmlformats.org/officeDocument/2006/relationships/image" Target="/ppt/media/image.png" Id="Rba1c8f8bcc094ebc" /><Relationship Type="http://schemas.openxmlformats.org/officeDocument/2006/relationships/notesSlide" Target="/ppt/notesSlides/notesSlide1.xml" Id="Re1c3f4a4f7e8440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ca9f69faae14b57" /><Relationship Type="http://schemas.openxmlformats.org/officeDocument/2006/relationships/notesSlide" Target="/ppt/notesSlides/notesSlide2.xml" Id="Ra63b5f4c49b2469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d15299c2a6454d" /><Relationship Type="http://schemas.openxmlformats.org/officeDocument/2006/relationships/notesSlide" Target="/ppt/notesSlides/notesSlide3.xml" Id="Re706d902bbc148f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29533D-5B57-45D1-851F-31B00925FA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1c8f8bcc094ebc"/>
          <a:srcRect xmlns:a="http://schemas.openxmlformats.org/drawingml/2006/main" l="23892" t="0" r="2389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29300" y="0"/>
            <a:ext cx="6362700" cy="6858000"/>
          </a:xfrm>
          <a:prstGeom xmlns:a="http://schemas.openxmlformats.org/drawingml/2006/main" prst="rect">
            <a:avLst/>
          </a:prstGeom>
        </p:spPr>
      </p:pic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4E1AAC-50BE-4951-9657-B43DA2952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0"/>
            <a:ext cx="9144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201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6553C1D4-3861-4643-8CC2-337CE5147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5247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CF8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5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515A14E4-024A-4FFC-8407-A9EF48D53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6858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2CF82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2CF82"/>
                </a:solidFill>
                <a:latin typeface="Aptos"/>
                <a:ea typeface="Aptos"/>
                <a:cs typeface="Aptos"/>
              </a:rPr>
              <a:t>PORTFOLIO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A731B7B-3E81-4AC6-B5E9-62B45C43E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19200"/>
            <a:ext cx="4762500" cy="1295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37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Project Portfolio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EE677BF-706B-4256-9FFC-7E44F113B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724150"/>
            <a:ext cx="4362450" cy="800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E8EFE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8EFE9"/>
                </a:solidFill>
                <a:latin typeface="Aptos"/>
                <a:ea typeface="Aptos"/>
                <a:cs typeface="Aptos"/>
              </a:rPr>
              <a:t>The active portfolio is concentrated</a:t>
            </a:r>
          </a:p>
          <a:p xmlns:a="http://schemas.openxmlformats.org/drawingml/2006/main">
            <a:pPr algn="l">
              <a:defRPr sz="1500" b="0">
                <a:solidFill>
                  <a:srgbClr val="E8EFE9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E8EFE9"/>
                </a:solidFill>
                <a:latin typeface="Aptos"/>
                <a:ea typeface="Aptos"/>
                <a:cs typeface="Aptos"/>
              </a:rPr>
              <a:t>enough for targeted program follow-up.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D9ACFE9-8343-43B9-AADD-117EE67F4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CF82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F2CF82"/>
                </a:solidFill>
                <a:latin typeface="Aptos"/>
                <a:ea typeface="Aptos"/>
                <a:cs typeface="Aptos"/>
              </a:rPr>
              <a:t>Programs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FF4B606-60A5-4CF9-AD1A-7E2BB810B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095750"/>
            <a:ext cx="2667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As of May 31,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D03AFF-4627-4E56-9852-EA24640E3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62500"/>
            <a:ext cx="21621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157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BC92E35-F6E8-4D52-AE62-2454FC65D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857750"/>
            <a:ext cx="1914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41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99D7285-3340-46A6-B510-29BBCCE50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124450"/>
            <a:ext cx="1914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CF8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2CF82"/>
                </a:solidFill>
                <a:latin typeface="Aptos"/>
                <a:ea typeface="Aptos"/>
                <a:cs typeface="Aptos"/>
              </a:rPr>
              <a:t>Active projects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DD4B29-9D74-4A91-9349-17541FA939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276850"/>
            <a:ext cx="1914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Active or at risk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045644F-B931-4BDC-98CD-320822848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4762500"/>
            <a:ext cx="21621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157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E48546-15D6-4CEF-AFFB-F08F5E642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857750"/>
            <a:ext cx="1914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94765F1-9E7D-4690-8A0D-9C6749F64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124450"/>
            <a:ext cx="1914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CF8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2CF82"/>
                </a:solidFill>
                <a:latin typeface="Aptos"/>
                <a:ea typeface="Aptos"/>
                <a:cs typeface="Aptos"/>
              </a:rPr>
              <a:t>Completed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BFB159-48A9-42B9-A7E6-D2E2E3E76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276850"/>
            <a:ext cx="1914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Closed this view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25F7625-9E41-442F-B37A-26ACE1B4D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81650"/>
            <a:ext cx="21621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157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F83A8C7-E63B-422C-9831-091F94F029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676900"/>
            <a:ext cx="1914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7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BA1980-5C5C-4BBB-BCA6-CF628BA9F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5943600"/>
            <a:ext cx="1914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CF8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2CF82"/>
                </a:solidFill>
                <a:latin typeface="Aptos"/>
                <a:ea typeface="Aptos"/>
                <a:cs typeface="Aptos"/>
              </a:rPr>
              <a:t>At risk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760A81F-62E3-4F01-B76F-CC78E8B458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6096000"/>
            <a:ext cx="1914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Status or high risk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4D7730A-2E79-497B-9E91-96ED803D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24175" y="5581650"/>
            <a:ext cx="2162175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>
              <a:alpha val="12157"/>
            </a:srgbClr>
          </a:solidFill>
          <a:ln xmlns:a="http://schemas.openxmlformats.org/drawingml/2006/main" w="9525">
            <a:solidFill>
              <a:srgbClr val="FFFFFF">
                <a:alpha val="20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CF186F2-6484-40EC-AA8A-7463E0D80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676900"/>
            <a:ext cx="19145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5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186K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708C93-0800-4974-8975-BAD130D7C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943600"/>
            <a:ext cx="1914525" cy="15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1">
                <a:solidFill>
                  <a:srgbClr val="F2CF82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2CF82"/>
                </a:solidFill>
                <a:latin typeface="Aptos"/>
                <a:ea typeface="Aptos"/>
                <a:cs typeface="Aptos"/>
              </a:rPr>
              <a:t>People reached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C9635AB1-1B1C-466D-A8CF-A58A953DB8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6096000"/>
            <a:ext cx="1914525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6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66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Portfolio reach</a:t>
            </a:r>
          </a:p>
        </p:txBody>
      </p:sp>
    </p:spTree>
    <p:extLst>
      <p:ext uri="{BB962C8B-B14F-4D97-AF65-F5344CB8AC3E}">
        <p14:creationId xmlns:p14="http://schemas.microsoft.com/office/powerpoint/2010/main" val="320344498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871B716-F8EF-416C-93D6-22F09CF62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3E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515837A4-7789-46C1-BBD1-F4BDA7993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2D1817A3-9667-46A0-8A29-0E564F702F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246B5A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246B5A"/>
                </a:solidFill>
                <a:latin typeface="Aptos"/>
                <a:ea typeface="Aptos"/>
                <a:cs typeface="Aptos"/>
              </a:rPr>
              <a:t>PORTFOLIO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667AD28-B331-476A-8469-95EF8CE34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4295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4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40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The active portfolio is concentrated enough for targeted program follow-up.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85FC67-646E-40B0-9651-55C833B05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95450"/>
            <a:ext cx="474345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88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41 active projects and 6 completed projects are in the</a:t>
            </a:r>
          </a:p>
          <a:p xmlns:a="http://schemas.openxmlformats.org/drawingml/2006/main">
            <a:pPr algn="l">
              <a:defRPr sz="1088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1088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selected view; 7 need follow-up.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C09E82-125C-4CA6-8681-5199FE848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81300"/>
            <a:ext cx="40005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Projects by theme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13033C-CE1A-453E-B9B4-53CD53EDA0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190875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Youth skills and livelihoods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7DF6394-7192-420D-ADCA-BE2A638AE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09925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A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CDDC79-C67E-4BC7-A96E-5371FA3B6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209925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3A01395-85E0-4308-B652-1891D0E57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152775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9 projects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43C2A-E61A-4875-BE94-F3EAF5193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27438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Women economic empowerment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DB58B9-E7D0-4834-9DA4-BFABE78E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646488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A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13215B-3669-413D-A9BA-D5D3FC87D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646488"/>
            <a:ext cx="3894667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79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1E237C-1444-432B-BF6E-3BA74B71D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589338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8 projects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3260B10-27C3-4446-BF37-F19203A59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064000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Climate resilience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5F78CD-8B9E-4AB5-AF4B-19A57EE6A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83050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A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1203ACE-F9DE-4974-8266-88F2CA57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083050"/>
            <a:ext cx="3407833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7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01EABD-F9E9-4049-907C-8B38E7FE9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025900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7 projects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D61FC6-F529-42B8-AE90-A4A2FF018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00563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Food security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B51F0AC-3265-4779-9352-DDA762C8F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19613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A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68C4794-DADB-4DCC-AA2B-89B71A01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519613"/>
            <a:ext cx="2921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5FB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FA11BD2-53B4-4466-B3EA-18ED462F23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462463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6 projects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8769AD-A90A-4AB4-831A-4C25B5A30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37125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Water and sanitation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F38EE25-7D28-4259-AC0C-B013B9E48C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956175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A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00A7B1-B3D3-4D92-AE15-F6958F6C8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4956175"/>
            <a:ext cx="2434167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6916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E0AFA9-2EB6-43DB-BB53-A5764FC3EB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4899025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5 projects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C1267F3-4D89-4829-8C03-D9AA5B9222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373688"/>
            <a:ext cx="1600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Community health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26223515-F55B-4E9D-A2A8-A0DF768AF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392738"/>
            <a:ext cx="43815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DAC9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CE93F9E-E55A-48C1-8519-8C5D7258BF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5392738"/>
            <a:ext cx="1947333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7A652C-5F61-4E7B-909B-F79DC4CCA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5335588"/>
            <a:ext cx="7239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4 projects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CA24CC6-EE6F-4483-9756-A1014E71B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0" y="1695450"/>
            <a:ext cx="2914650" cy="426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B24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7B479E-97A3-4153-A1E3-BCEB6A093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1962150"/>
            <a:ext cx="23812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rPr sz="1275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Report snapshot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D874C23-0A18-4017-86EA-B1CA339B18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514600"/>
            <a:ext cx="236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rPr>
              <a:t>41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F6EDC934-7F68-4EC2-A9E8-D04B52468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819400"/>
            <a:ext cx="2362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Active projects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46D7FE3-135B-48B0-B072-D3B3ABC8C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000375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Active or at risk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B03E503-0C54-49BF-8426-B4719B7EB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352800"/>
            <a:ext cx="236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rPr>
              <a:t>6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5D6CB5F-F322-4370-BB98-9DE1B8E00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657600"/>
            <a:ext cx="2362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Completed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8929F7A-E539-4C44-A810-E4E4B5428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838575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Closed this view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16E9155-9019-4B99-924A-16766814E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191000"/>
            <a:ext cx="236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rPr>
              <a:t>7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664E41-ACE2-4806-B185-CC24C712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495800"/>
            <a:ext cx="2362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At risk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F70CEAD-F95A-480F-B308-236999BF9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4676775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Status or high risk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DBF947B-C3E3-4BED-8090-E6E677A2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029200"/>
            <a:ext cx="2362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defRPr>
            </a:pPr>
            <a:r>
              <a:rPr sz="1800" b="1">
                <a:solidFill>
                  <a:srgbClr val="F2CF82"/>
                </a:solidFill>
                <a:latin typeface="Aptos Display"/>
                <a:ea typeface="Aptos Display"/>
                <a:cs typeface="Aptos Display"/>
              </a:rPr>
              <a:t>186K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84F02C1-070D-4D61-B3B8-A85575ABB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334000"/>
            <a:ext cx="2362200" cy="161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People reached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6C4DB2C-2781-43E4-8EE9-E6EAD85FB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514975"/>
            <a:ext cx="2362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D9E1DC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D9E1DC"/>
                </a:solidFill>
                <a:latin typeface="Aptos"/>
                <a:ea typeface="Aptos"/>
                <a:cs typeface="Aptos"/>
              </a:rPr>
              <a:t>Portfolio reach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F1C3FE6-03B6-49D3-AC28-6FDA41BF5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2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A40FEC9-2FB1-4C95-BF7D-FC8BD666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45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458"/>
                </a:solidFill>
                <a:latin typeface="Aptos"/>
                <a:ea typeface="Aptos"/>
                <a:cs typeface="Aptos"/>
              </a:rPr>
              <a:t>GAC Impact Intelligence Dashboard - Mock report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30FCB97-5D52-4DF9-8B9F-3FD6F9189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151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645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45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222303986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BA9A27B-DEEE-42EA-BEAB-EFDC08A0D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BF7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kicker-marker">
            <a:extLst xmlns:a="http://schemas.openxmlformats.org/drawingml/2006/main">
              <a:ext uri="{FF2B5EF4-FFF2-40B4-BE49-F238E27FC236}">
                <a16:creationId xmlns:a16="http://schemas.microsoft.com/office/drawing/2014/main" id="{74ADC2B6-37A1-4ABD-8AA9-419A3036DC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61975"/>
            <a:ext cx="2286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15C3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kicker-label">
            <a:extLst xmlns:a="http://schemas.openxmlformats.org/drawingml/2006/main">
              <a:ext uri="{FF2B5EF4-FFF2-40B4-BE49-F238E27FC236}">
                <a16:creationId xmlns:a16="http://schemas.microsoft.com/office/drawing/2014/main" id="{766119CA-E7E0-4540-90D5-813B3B24C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5300"/>
            <a:ext cx="2667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A15C38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15C38"/>
                </a:solidFill>
                <a:latin typeface="Aptos"/>
                <a:ea typeface="Aptos"/>
                <a:cs typeface="Aptos"/>
              </a:rPr>
              <a:t>PORTFOLIO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069B37B-F01B-4F04-B3B9-B4457C300A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800100"/>
            <a:ext cx="733425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defRPr>
            </a:pPr>
            <a:r>
              <a:rPr sz="2550" b="1">
                <a:solidFill>
                  <a:srgbClr val="18212B"/>
                </a:solidFill>
                <a:latin typeface="Aptos Display"/>
                <a:ea typeface="Aptos Display"/>
                <a:cs typeface="Aptos Display"/>
              </a:rPr>
              <a:t>The mock report turns dashboard data into follow-up decisions.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24E3F1-EF81-438A-A367-73629DDFF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44767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CAB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A37CC58-8486-4A04-911E-798C89BA5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76450"/>
            <a:ext cx="30480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Recommended follow-ups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E66B3E9-C595-4E50-AFE4-3D5F3F59C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6003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46B5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5E36BA-2C31-4885-ABF1-B2520F19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57475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8D6F747-8E9F-407E-B8A7-14F497BF6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57175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Assign named owners to the top three risk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follow-ups.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2DAAA8B-B341-4726-BE24-55ACFC48F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38137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C79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89AA996-D107-427F-8544-D49BD3191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438525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77CC8B-7E6F-4F5D-8F8E-5B03B477DA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335280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Use theme concentration to sequence partner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support visits.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4368326-E400-4382-9EA6-C48D67B9D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62425"/>
            <a:ext cx="266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6873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D24E555-519F-4CDE-B3BE-189787BB07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9575"/>
            <a:ext cx="1143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ctr">
              <a:defRPr sz="75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75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1E78D3A-97A8-4921-9FB1-E03773653F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4133850"/>
            <a:ext cx="3524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Keep completion and disbursement notes together</a:t>
            </a:r>
          </a:p>
          <a:p xmlns:a="http://schemas.openxmlformats.org/drawingml/2006/main">
            <a:pPr algn="l">
              <a:defRPr sz="1050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for program review.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29CDD2B-BA84-4858-A4E1-C6F4CCCB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2600" y="1809750"/>
            <a:ext cx="4857750" cy="3390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AF1"/>
          </a:solidFill>
          <a:ln xmlns:a="http://schemas.openxmlformats.org/drawingml/2006/main" w="9525">
            <a:solidFill>
              <a:srgbClr val="D8CAB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A499E1-9B85-42D8-A84E-1E95B70204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1943100"/>
            <a:ext cx="4514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Evidence to watch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96F368-326B-4553-8D8E-07E42023E1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190750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1D97F63-55C6-4C2C-9538-B226B2E36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2479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Community Health</a:t>
            </a:r>
          </a:p>
          <a:p xmlns:a="http://schemas.openxmlformats.org/drawingml/2006/main">
            <a:pPr algn="l">
              <a:defRPr sz="713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Volunteer Outreach -</a:t>
            </a:r>
          </a:p>
          <a:p xmlns:a="http://schemas.openxmlformats.org/drawingml/2006/main">
            <a:pPr algn="l">
              <a:defRPr sz="713" b="1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18212B"/>
                </a:solidFill>
                <a:latin typeface="Aptos"/>
                <a:ea typeface="Aptos"/>
                <a:cs typeface="Aptos"/>
              </a:rPr>
              <a:t>Webuye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2A18E08-5171-4327-920C-594C871415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2479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46B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46B5A"/>
                </a:solidFill>
                <a:latin typeface="Aptos"/>
                <a:ea typeface="Aptos"/>
                <a:cs typeface="Aptos"/>
              </a:rPr>
              <a:t>Bungoma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6C7753E-B70B-4A50-9D8A-A0A23D9A7D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247900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63% complete; high risk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3357525-5021-488E-B36E-5EE74FA856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00325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F0C057-2CBE-4780-9159-E4883BD5C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657475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Dryland Climate</a:t>
            </a:r>
          </a:p>
          <a:p xmlns:a="http://schemas.openxmlformats.org/drawingml/2006/main">
            <a:pPr algn="l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Resilience Grants -</a:t>
            </a:r>
          </a:p>
          <a:p xmlns:a="http://schemas.openxmlformats.org/drawingml/2006/main">
            <a:pPr algn="l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Kaptembwa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6102C9-6B4A-4272-AEE9-B129D3805F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657475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46B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46B5A"/>
                </a:solidFill>
                <a:latin typeface="Aptos"/>
                <a:ea typeface="Aptos"/>
                <a:cs typeface="Aptos"/>
              </a:rPr>
              <a:t>Nakuru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81F568-F496-442B-BA43-A2F73FAAA7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57475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61% complete; high risk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FD67A94-ACF4-4801-B652-3A59C093EF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09900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E74566E-77AC-47DB-8DCF-A9DB2D82B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06705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County Youth Skills</a:t>
            </a:r>
          </a:p>
          <a:p xmlns:a="http://schemas.openxmlformats.org/drawingml/2006/main">
            <a:pPr algn="l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Accelerator - Suna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4CCAB73-0011-4CF0-9837-F06BA44BAF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06705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46B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46B5A"/>
                </a:solidFill>
                <a:latin typeface="Aptos"/>
                <a:ea typeface="Aptos"/>
                <a:cs typeface="Aptos"/>
              </a:rPr>
              <a:t>Migori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0A72DCA-77CF-4AFD-967D-27E0AFB57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067050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59% complete; high risk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2098F5A-C95E-4049-BAFE-1FD075FAF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19475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12678B5-9EEF-4F44-839C-BA8C90AF3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476625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Savings Group</a:t>
            </a:r>
          </a:p>
          <a:p xmlns:a="http://schemas.openxmlformats.org/drawingml/2006/main">
            <a:pPr algn="l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Strengthening - Dadaab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F0DB9C2-C526-4F06-8329-B3707B404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476625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46B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46B5A"/>
                </a:solidFill>
                <a:latin typeface="Aptos"/>
                <a:ea typeface="Aptos"/>
                <a:cs typeface="Aptos"/>
              </a:rPr>
              <a:t>Garissa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799D789-8BCB-4A3C-8D0E-D7D156E5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76625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57% complete; high risk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091F7C2-08F2-407A-BA92-FF1B8D76E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829050"/>
            <a:ext cx="45148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D6C6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C8BDEE7-7AA2-433A-AFEA-C6DB09DE9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3886200"/>
            <a:ext cx="1466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Peace Forums and Civic</a:t>
            </a:r>
          </a:p>
          <a:p xmlns:a="http://schemas.openxmlformats.org/drawingml/2006/main">
            <a:pPr algn="l">
              <a:defRPr sz="713" b="0">
                <a:solidFill>
                  <a:srgbClr val="18212B"/>
                </a:solidFill>
                <a:latin typeface="Aptos"/>
                <a:ea typeface="Aptos"/>
                <a:cs typeface="Aptos"/>
              </a:defRPr>
            </a:pPr>
            <a:r>
              <a:rPr sz="713" b="0">
                <a:solidFill>
                  <a:srgbClr val="18212B"/>
                </a:solidFill>
                <a:latin typeface="Aptos"/>
                <a:ea typeface="Aptos"/>
                <a:cs typeface="Aptos"/>
              </a:rPr>
              <a:t>Voice - Kalokol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07246155-C633-462E-8789-37BC7E3FB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3886200"/>
            <a:ext cx="952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13" b="1">
                <a:solidFill>
                  <a:srgbClr val="246B5A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246B5A"/>
                </a:solidFill>
                <a:latin typeface="Aptos"/>
                <a:ea typeface="Aptos"/>
                <a:cs typeface="Aptos"/>
              </a:rPr>
              <a:t>Turkana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AEDC1165-468E-4A9A-AB90-168095A3E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86200"/>
            <a:ext cx="18669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690" b="0">
                <a:solidFill>
                  <a:srgbClr val="66717E"/>
                </a:solidFill>
                <a:latin typeface="Aptos"/>
                <a:ea typeface="Aptos"/>
                <a:cs typeface="Aptos"/>
              </a:defRPr>
            </a:pPr>
            <a:r>
              <a:rPr sz="690" b="0">
                <a:solidFill>
                  <a:srgbClr val="66717E"/>
                </a:solidFill>
                <a:latin typeface="Aptos"/>
                <a:ea typeface="Aptos"/>
                <a:cs typeface="Aptos"/>
              </a:rPr>
              <a:t>71% complete; low risk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99054F5-C784-4E53-A614-D6D126D10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62600"/>
            <a:ext cx="98107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033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04C9D9E-E3C2-4AE5-ABE9-C9BF4D72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676900"/>
            <a:ext cx="87630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Mock deliverable: editable PPTX report generated from the dashboard's simulated data, not a CSV export.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BD08E4AE-843D-45B8-A77F-8DD293BB8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00800"/>
            <a:ext cx="10363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C2A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11BCD07-845D-4A99-89A9-C69F788FFA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334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750" b="0">
                <a:solidFill>
                  <a:srgbClr val="6F645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458"/>
                </a:solidFill>
                <a:latin typeface="Aptos"/>
                <a:ea typeface="Aptos"/>
                <a:cs typeface="Aptos"/>
              </a:rPr>
              <a:t>GAC Impact Intelligence Dashboard - Mock report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29B5D43-F118-419B-ACB4-2C9AA41F3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6515100"/>
            <a:ext cx="10668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750" b="0">
                <a:solidFill>
                  <a:srgbClr val="6F6458"/>
                </a:solidFill>
                <a:latin typeface="Aptos"/>
                <a:ea typeface="Aptos"/>
                <a:cs typeface="Aptos"/>
              </a:defRPr>
            </a:pPr>
            <a:r>
              <a:rPr sz="750" b="0">
                <a:solidFill>
                  <a:srgbClr val="6F645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30160840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2026-06-04T14:52:33.9150000Z</dcterms:created>
  <dcterms:modified xsi:type="dcterms:W3CDTF">2026-06-04T14:52:33.9160000Z</dcterms:modified>
</coreProperties>
</file>